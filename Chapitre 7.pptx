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258" r:id="rId3"/>
    <p:sldId id="259" r:id="rId4"/>
    <p:sldId id="261" r:id="rId5"/>
    <p:sldId id="260" r:id="rId6"/>
    <p:sldId id="262" r:id="rId7"/>
    <p:sldId id="267" r:id="rId8"/>
    <p:sldId id="268" r:id="rId9"/>
    <p:sldId id="269" r:id="rId10"/>
    <p:sldId id="263" r:id="rId11"/>
    <p:sldId id="270" r:id="rId12"/>
    <p:sldId id="271" r:id="rId13"/>
    <p:sldId id="283" r:id="rId14"/>
    <p:sldId id="265" r:id="rId15"/>
    <p:sldId id="284" r:id="rId16"/>
    <p:sldId id="285" r:id="rId17"/>
    <p:sldId id="286" r:id="rId18"/>
    <p:sldId id="287" r:id="rId19"/>
    <p:sldId id="266" r:id="rId20"/>
    <p:sldId id="288" r:id="rId21"/>
    <p:sldId id="289" r:id="rId22"/>
    <p:sldId id="280" r:id="rId23"/>
    <p:sldId id="264" r:id="rId24"/>
    <p:sldId id="272" r:id="rId25"/>
    <p:sldId id="290" r:id="rId26"/>
    <p:sldId id="273" r:id="rId27"/>
    <p:sldId id="291" r:id="rId28"/>
    <p:sldId id="292" r:id="rId29"/>
    <p:sldId id="293" r:id="rId30"/>
    <p:sldId id="274" r:id="rId31"/>
    <p:sldId id="275" r:id="rId32"/>
    <p:sldId id="281" r:id="rId33"/>
    <p:sldId id="276" r:id="rId34"/>
    <p:sldId id="277" r:id="rId35"/>
    <p:sldId id="278" r:id="rId36"/>
    <p:sldId id="294" r:id="rId37"/>
    <p:sldId id="279" r:id="rId38"/>
    <p:sldId id="282" r:id="rId3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3FEC7-09A7-4D16-ADBF-F8194E363C12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27051-AE2B-4A3A-9177-0B4F2A6A18F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43421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Le DOM ne se limite pas au document mais couvre également d'autres informations (fenêtre d'affichage, navigateur…)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9823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mot en italique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79271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F7C7-A184-A2DD-8FBC-F9CA872BD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4C8D30-F6AF-C5B6-BAC3-32CB10093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79A8986-61CA-3D31-DA27-5D55DE7FE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mot en italique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45C2C7-8C92-EF79-B96D-CBA3697A4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70311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96C1-9D0E-1A6D-0766-A2391870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B17618-FF2D-0A36-F8A2-E3368EA1A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2A037CE-CF69-936C-586A-0D87956EE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mot en italique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D97E02-BA78-9EDA-8850-3E2796ADD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8481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369C-80C3-5329-1632-20192FE48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54D7178-4D34-0CC1-3968-321BD7E8B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BCB4DC1-2B16-B4EF-060C-F0B5C8984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Note. Javascript ne permet pas de modifier les règles CSS (ni, donc, la définition des classes). Par contre, on peut définir à l'avance des classes inutilisées dans le document HTML et les attribuer via un script Javascript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624512-49CF-4F7D-BFB2-B8A2B2F39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89616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\d+</a:t>
            </a:r>
          </a:p>
          <a:p>
            <a:r>
              <a:rPr lang="fr-BE" dirty="0"/>
              <a:t>\b[A-Z][a-z]+\b</a:t>
            </a:r>
          </a:p>
          <a:p>
            <a:r>
              <a:rPr lang="fr-BE" dirty="0"/>
              <a:t>\b[a-zA-Z0-9._%+-]+@[a-zA-Z0-9.-]+\.[a-</a:t>
            </a:r>
            <a:r>
              <a:rPr lang="fr-BE" dirty="0" err="1"/>
              <a:t>zA</a:t>
            </a:r>
            <a:r>
              <a:rPr lang="fr-BE" dirty="0"/>
              <a:t>-Z]{2,}\b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38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88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592A9-1988-984B-3627-BAE992E37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8EB5BC-CC2D-8D19-D2DE-41FB0E48D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572786-B5E0-2EEC-1923-CCC62059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C558-3AF2-505C-CF29-35036D70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A86879-5A72-33EC-7802-F88304C4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7429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162ADF-85B7-B437-3678-5CA2ADA73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436A05-9845-09D8-C63B-2F1018B09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BB5932-5C0D-DCCC-FBED-633A78CA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1C8155-E2FD-A22E-8332-E621F509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9C9F78-F9F5-6D14-91B3-A05A53CE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672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ED4B3F-9DBF-65D1-49A7-ADFCF967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02688E-06B0-AC0B-201E-FF68EFF07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70A8DE-F5C0-87D7-7732-C24FA8A2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357CA7-BDD1-668E-C91A-607419A5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D510F9-311C-A682-5AD3-497E5975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9060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8830C-C23A-BC27-AE28-340B29E7B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C4ABA2-224B-086A-E93C-FBBFB4654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4F0B69-ACB4-9B2F-BA60-AC2CDCE60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319557-AEC9-5784-471F-1F436DF5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8835AD-245F-2AA6-BDAE-CD4B3B37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28A1B6-A29C-B159-05E1-60E35154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523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553C0-8ACE-6715-5267-EE81EEAD9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8F4D69-F182-DBBF-3E3B-9461B094F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6CBA4E-BE19-1024-26C4-6D8340DB5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BD21B4A-9910-1F28-1F5B-981DD1420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5AE5F8-FE92-2208-5B86-5FF6BD5DA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82DD4B-61FF-E371-DB59-5FDE68C8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8FFA39-BB6E-541A-AF25-9F2A0707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B90B0DA-1E31-5D58-E9FF-8DA6114F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87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0252D4-847D-BB04-7C80-8B5CADE53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D67DCEC-0622-AC37-AEEA-5920E896C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F99B37-D25E-2667-DB9B-98BE827B4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2140E9-1F40-B67F-12EF-A81DAB71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7247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95A3173-E90D-81AA-96BF-FC7200CB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9BF08CB-7ACA-47F1-0BDF-C3469A4C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52C14B-9F0F-F2A5-FAB9-CD650282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7423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40B3CD-FBEB-2D0B-9482-1CCDE9D5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6CA918-244C-9EA2-61D1-9EC4AEAEB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ADE2A8-A6F6-AD76-C169-4E793BB98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20DB2E-2434-A661-A887-DEA055B7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19C9DA-7FF1-E090-7A15-3C85217FC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A5C55A-1C5E-778F-4ED7-08462797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3451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250164-E597-E15F-0954-6665F2D22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02B4D41-B868-36AB-9FE1-B5FB1AF76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592F44-4094-7687-FDAC-50F5B9443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6287DB-13A6-D339-686B-82E5848A7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FF1D46-74D0-CF55-E103-34A536FA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A93E56-BAED-66E5-2D78-4B9AA2C2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7032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35BBE-05D9-BA75-4140-DE97EE08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D60923-CAC4-C0F8-E2AF-CD80CBE89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FEBD13-6B3B-EA88-AE09-DAB866D13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7B189E-36EE-319E-4AA9-AA6D21BE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278D81-7174-CF3C-DF98-F8CDB9BB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1883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75F7339-74AA-0AE6-B7B3-8DC640055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2A242A1-39F8-542E-8D51-5A976708F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8CA2A4-AA61-7511-F0F2-FE66D50B2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790239-5E9C-DB7A-E13C-F1256665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BB68C3-0EA1-9D89-F5BB-A8ECD399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2620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CF1C3BD-E267-942D-6BB0-784C22D07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6D557B-EB5F-D1F2-8EA6-9712D8B1E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455200-8116-E798-34D8-DDA2A3A4D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0B13D-23AC-4B35-9346-C89E6168E61C}" type="datetimeFigureOut">
              <a:rPr lang="fr-BE" smtClean="0"/>
              <a:t>20-01-26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476070-EB13-D5FF-615B-83E320B3C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6AFC34-5FD7-7FC2-D065-4A309ADC5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18858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hyperlink" Target="https://developer.mozilla.org/en-US/docs/Web/JavaScript/Reference/Global_Objects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D9817-AAD7-BA29-E49B-7408C5100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Module 1 – Programmation web Frontend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850D4C-AB8A-A34A-F5CF-E6E9CE852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082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8AEC00-E3FB-38E3-2A52-F95BCA13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Planning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6FD568-860B-6905-CD7B-EF0A605B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BE" dirty="0"/>
              <a:t>PWF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04/10/25 – Chapitre 1. Introduction web – fonctionnement, vocabulaire, prise en main des outils et Introduction au langage HTML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18/10/25 – Chapitre 2. Introduction web – HTML et CSS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8/11/25 – Chapitre 3. Introduction web – Arborescence et Formulaire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22/11/25 – Chapitre 4. Introduction Team Workflow - Git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06/12/25 – Chapitre 5. Introduction à Javascript, Variables et valeurs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10/01/26 – Chapitre 6. Javascript : Fonctions, tableaux, objets, prototypes et constructeurs</a:t>
            </a:r>
          </a:p>
          <a:p>
            <a:r>
              <a:rPr lang="fr-B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24/01/26 - Chapitre 7. Javascript : DOM et programmation évènementiel, expression régulière</a:t>
            </a:r>
          </a:p>
          <a:p>
            <a:r>
              <a:rPr lang="fr-BE" dirty="0"/>
              <a:t>07/02/26 - Chapitre 8. Javascript : Fonctions avancées et compléments</a:t>
            </a:r>
          </a:p>
          <a:p>
            <a:r>
              <a:rPr lang="fr-BE" dirty="0"/>
              <a:t>21/02/26 - Chapitre 9. </a:t>
            </a:r>
            <a:r>
              <a:rPr lang="fr-BE" dirty="0" err="1"/>
              <a:t>Révison</a:t>
            </a:r>
            <a:endParaRPr lang="fr-BE" dirty="0"/>
          </a:p>
          <a:p>
            <a:r>
              <a:rPr lang="fr-BE" dirty="0"/>
              <a:t>14/03/26 - Examen</a:t>
            </a:r>
          </a:p>
          <a:p>
            <a:pPr marL="0" indent="0">
              <a:buNone/>
            </a:pPr>
            <a:r>
              <a:rPr lang="fr-BE" dirty="0"/>
              <a:t>PWB</a:t>
            </a:r>
          </a:p>
          <a:p>
            <a:r>
              <a:rPr lang="fr-BE" dirty="0"/>
              <a:t>28/03/26 –  Chapitre 1.</a:t>
            </a:r>
          </a:p>
          <a:p>
            <a:r>
              <a:rPr lang="fr-BE" dirty="0"/>
              <a:t>11/04/26 –  Chapitre 2.</a:t>
            </a:r>
          </a:p>
          <a:p>
            <a:r>
              <a:rPr lang="fr-BE" dirty="0"/>
              <a:t>25/04/26 –  Chapitre 3.</a:t>
            </a:r>
          </a:p>
          <a:p>
            <a:r>
              <a:rPr lang="fr-BE" dirty="0"/>
              <a:t>23/05/26 - Examen 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9455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9BCF3-B8D6-9A26-4908-CA223787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7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FEF790-EB51-19B5-6E64-927184AA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DOM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Lien entre Javascript et HTML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L’objet document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Utilisation 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dirty="0"/>
              <a:t>Cibler un élément html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dirty="0"/>
              <a:t>Modifier un élément HTML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dirty="0"/>
              <a:t>Modifier l’arborescence HTML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Exercice 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Programmation évènementielle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Gestion des évènements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Associer une action à un évènement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Évènements et phases d’exécution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 err="1"/>
              <a:t>Window</a:t>
            </a:r>
            <a:r>
              <a:rPr lang="fr-FR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Exercice </a:t>
            </a:r>
          </a:p>
        </p:txBody>
      </p:sp>
    </p:spTree>
    <p:extLst>
      <p:ext uri="{BB962C8B-B14F-4D97-AF65-F5344CB8AC3E}">
        <p14:creationId xmlns:p14="http://schemas.microsoft.com/office/powerpoint/2010/main" val="1652636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B7C2-EFAB-7AEB-234C-B13F0260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A91BE7-D917-AEF3-B82C-E208A161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7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E1F251-A0C5-9A69-0533-A466D3DD2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 startAt="3"/>
            </a:pPr>
            <a:r>
              <a:rPr lang="fr-BE" dirty="0"/>
              <a:t>Expression régulière</a:t>
            </a:r>
          </a:p>
          <a:p>
            <a:pPr marL="914400" lvl="1" indent="-457200">
              <a:buAutoNum type="arabicPeriod"/>
            </a:pPr>
            <a:r>
              <a:rPr lang="fr-BE" dirty="0"/>
              <a:t>Introduction</a:t>
            </a:r>
          </a:p>
          <a:p>
            <a:pPr marL="914400" lvl="1" indent="-457200">
              <a:buAutoNum type="arabicPeriod"/>
            </a:pPr>
            <a:r>
              <a:rPr lang="fr-BE" dirty="0"/>
              <a:t>Syntaxe</a:t>
            </a:r>
          </a:p>
          <a:p>
            <a:pPr marL="914400" lvl="1" indent="-457200">
              <a:buAutoNum type="arabicPeriod"/>
            </a:pPr>
            <a:r>
              <a:rPr lang="fr-BE" dirty="0"/>
              <a:t>Utilisation en JS</a:t>
            </a:r>
          </a:p>
          <a:p>
            <a:pPr marL="914400" lvl="1" indent="-457200">
              <a:buAutoNum type="arabicPeriod"/>
            </a:pPr>
            <a:r>
              <a:rPr lang="fr-BE" dirty="0"/>
              <a:t>Exercice</a:t>
            </a:r>
          </a:p>
          <a:p>
            <a:pPr marL="971550" lvl="1" indent="-514350">
              <a:buAutoNum type="arabicPeriod" startAt="3"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41427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8CB60F-CADF-A366-8EF3-406D0204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D11C828-7219-81D1-B023-3BBD04102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Lien entre Javascript et HTML</a:t>
            </a:r>
          </a:p>
          <a:p>
            <a:pPr lvl="1"/>
            <a:r>
              <a:rPr lang="fr-BE" dirty="0"/>
              <a:t>DOM (Document Object Model) = modèle représentant le document sous forme d’objet</a:t>
            </a:r>
          </a:p>
          <a:p>
            <a:pPr lvl="1"/>
            <a:r>
              <a:rPr lang="fr-BE" dirty="0"/>
              <a:t>But:</a:t>
            </a:r>
          </a:p>
          <a:p>
            <a:pPr lvl="2"/>
            <a:r>
              <a:rPr lang="fr-BE" dirty="0"/>
              <a:t>Permettre à JS de</a:t>
            </a:r>
          </a:p>
          <a:p>
            <a:pPr lvl="3"/>
            <a:r>
              <a:rPr lang="fr-BE" dirty="0"/>
              <a:t>Consulter (en lecture) le contenu d’un document</a:t>
            </a:r>
          </a:p>
          <a:p>
            <a:pPr lvl="3"/>
            <a:r>
              <a:rPr lang="fr-BE" dirty="0"/>
              <a:t>Modifier (en écriture) le contenu du document</a:t>
            </a:r>
          </a:p>
          <a:p>
            <a:pPr lvl="1"/>
            <a:r>
              <a:rPr lang="fr-BE" dirty="0"/>
              <a:t>Le DOM indique comment chacun des éléments de l’arborescence HTML est représenté en mémoire.</a:t>
            </a:r>
          </a:p>
          <a:p>
            <a:pPr lvl="1"/>
            <a:r>
              <a:rPr lang="fr-BE" dirty="0"/>
              <a:t>Exemple : </a:t>
            </a:r>
          </a:p>
          <a:p>
            <a:pPr lvl="2"/>
            <a:endParaRPr lang="fr-BE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9A39959-77B4-9740-A5A3-DB6927FB2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808" y="5567278"/>
            <a:ext cx="6449325" cy="6096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6304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74B7-4DCF-C8B8-2DB6-5E024136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1367E-BDAB-FA68-4597-7055DA43E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42BCA52-3A1D-700A-7316-609E6ABC7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Rappel</a:t>
            </a:r>
          </a:p>
          <a:p>
            <a:endParaRPr lang="fr-BE" dirty="0"/>
          </a:p>
        </p:txBody>
      </p:sp>
      <p:pic>
        <p:nvPicPr>
          <p:cNvPr id="6" name="Image 5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F8A52D96-1EF8-A07D-CE9C-81787A1B3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328" y="1924554"/>
            <a:ext cx="7811590" cy="4153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2261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7CAC7-A535-19D1-5DE7-3F1BDD11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E7A2D9-D608-A295-21F5-E05DCF59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32853A9-C966-AD1B-9C0F-DB6AC83B0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L’objet document</a:t>
            </a:r>
          </a:p>
          <a:p>
            <a:pPr lvl="1"/>
            <a:r>
              <a:rPr lang="fr-BE" dirty="0"/>
              <a:t>L’objet document représente le document HTML</a:t>
            </a:r>
          </a:p>
          <a:p>
            <a:pPr lvl="1"/>
            <a:r>
              <a:rPr lang="fr-BE" dirty="0"/>
              <a:t>Il permet à javascript d’accéder au contenu HTML (lecture et écriture)</a:t>
            </a:r>
          </a:p>
          <a:p>
            <a:pPr lvl="1"/>
            <a:r>
              <a:rPr lang="fr-BE" dirty="0"/>
              <a:t>Structure en arbre</a:t>
            </a:r>
          </a:p>
          <a:p>
            <a:pPr lvl="2"/>
            <a:r>
              <a:rPr lang="fr-BE" dirty="0"/>
              <a:t>Chaque élément HTML est un nœud et est décrit par un objet.</a:t>
            </a:r>
          </a:p>
          <a:p>
            <a:pPr lvl="3"/>
            <a:r>
              <a:rPr lang="fr-BE" dirty="0" err="1"/>
              <a:t>Nœud.childNodes</a:t>
            </a:r>
            <a:r>
              <a:rPr lang="fr-BE" dirty="0"/>
              <a:t> : tableau reprenant tous les fils du nœud</a:t>
            </a:r>
          </a:p>
          <a:p>
            <a:pPr lvl="3"/>
            <a:r>
              <a:rPr lang="fr-BE" dirty="0" err="1"/>
              <a:t>Nœud.children</a:t>
            </a:r>
            <a:r>
              <a:rPr lang="fr-BE" dirty="0"/>
              <a:t> :  tableau ne reprenant que les fils qui sont eux-mêmes des éléments.</a:t>
            </a:r>
          </a:p>
          <a:p>
            <a:pPr lvl="3"/>
            <a:r>
              <a:rPr lang="fr-BE" dirty="0"/>
              <a:t>Un nœud peut être :</a:t>
            </a:r>
          </a:p>
          <a:p>
            <a:pPr lvl="4"/>
            <a:r>
              <a:rPr lang="fr-BE" dirty="0"/>
              <a:t>Un élément (une balise)</a:t>
            </a:r>
          </a:p>
          <a:p>
            <a:pPr lvl="4"/>
            <a:r>
              <a:rPr lang="fr-BE" dirty="0"/>
              <a:t>Une donnée textuelle</a:t>
            </a:r>
          </a:p>
        </p:txBody>
      </p:sp>
    </p:spTree>
    <p:extLst>
      <p:ext uri="{BB962C8B-B14F-4D97-AF65-F5344CB8AC3E}">
        <p14:creationId xmlns:p14="http://schemas.microsoft.com/office/powerpoint/2010/main" val="330135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5BF2-806D-ACEF-F051-9844C263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5F5B6-6927-64D2-F734-5C99A35B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AF10638-A21A-FC19-BF50-48B424879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L’objet document</a:t>
            </a:r>
          </a:p>
        </p:txBody>
      </p:sp>
      <p:pic>
        <p:nvPicPr>
          <p:cNvPr id="4" name="Image 3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1A227D8F-F33E-C5D8-57A8-AD11DF96E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89" y="2339387"/>
            <a:ext cx="7697274" cy="1829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C56469DB-F5AC-1BF3-5B27-7AB1C9FD7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89" y="4315333"/>
            <a:ext cx="7697274" cy="1714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4976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70CE5-2ED8-4C4B-01F1-B90D0E6C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1F14EC-227D-D1F5-C11B-4ECFCCCF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D963FE58-7E97-5D3D-CE89-F566B657F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L’objet document</a:t>
            </a:r>
          </a:p>
        </p:txBody>
      </p:sp>
      <p:pic>
        <p:nvPicPr>
          <p:cNvPr id="5" name="Image 4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DADD5A70-860F-E219-13B4-427DE539E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839" y="2086502"/>
            <a:ext cx="5144218" cy="1914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 descr="Une image contenant text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034BA79-B481-7E5B-8365-A96D4992F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627" y="4122206"/>
            <a:ext cx="6306430" cy="19338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8037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693A1-4A18-1AE3-DB40-2C67777E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0F58DB-D166-7788-4586-A724C638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FF231FE-3C89-68D7-72C7-9A609B9ED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Cibler un élément html – méthode 1 – accès direct</a:t>
            </a:r>
          </a:p>
          <a:p>
            <a:pPr lvl="2"/>
            <a:r>
              <a:rPr lang="fr-FR" dirty="0"/>
              <a:t>L’objet document permet d’accéder directement à certains éléments HTML</a:t>
            </a:r>
          </a:p>
          <a:p>
            <a:pPr lvl="3"/>
            <a:r>
              <a:rPr lang="fr-FR" dirty="0" err="1"/>
              <a:t>Document.head</a:t>
            </a:r>
            <a:endParaRPr lang="fr-FR" dirty="0"/>
          </a:p>
          <a:p>
            <a:pPr lvl="3"/>
            <a:r>
              <a:rPr lang="fr-FR" dirty="0" err="1"/>
              <a:t>Document.body</a:t>
            </a:r>
            <a:endParaRPr lang="fr-FR" dirty="0"/>
          </a:p>
          <a:p>
            <a:pPr lvl="2"/>
            <a:r>
              <a:rPr lang="fr-FR" dirty="0"/>
              <a:t>L’objet document possède aussi des propriétés donnant des collections d’éléments semblables</a:t>
            </a:r>
          </a:p>
          <a:p>
            <a:pPr lvl="3"/>
            <a:r>
              <a:rPr lang="fr-FR" dirty="0" err="1"/>
              <a:t>Document.anchors</a:t>
            </a:r>
            <a:endParaRPr lang="fr-FR" dirty="0"/>
          </a:p>
          <a:p>
            <a:pPr lvl="3"/>
            <a:r>
              <a:rPr lang="fr-FR" dirty="0" err="1"/>
              <a:t>Document.forms</a:t>
            </a:r>
            <a:endParaRPr lang="fr-FR" dirty="0"/>
          </a:p>
          <a:p>
            <a:pPr lvl="3"/>
            <a:r>
              <a:rPr lang="fr-FR" dirty="0" err="1"/>
              <a:t>Document.images</a:t>
            </a:r>
            <a:endParaRPr lang="fr-FR" dirty="0"/>
          </a:p>
          <a:p>
            <a:pPr lvl="3"/>
            <a:r>
              <a:rPr lang="fr-FR" dirty="0" err="1"/>
              <a:t>Document.links</a:t>
            </a:r>
            <a:endParaRPr lang="fr-FR" dirty="0"/>
          </a:p>
          <a:p>
            <a:pPr lvl="3"/>
            <a:r>
              <a:rPr lang="fr-FR" dirty="0"/>
              <a:t>…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947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E14AB-A2DC-2485-9F3A-4A72DB6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2F68C7-5845-1B17-DE35-685AAFFA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2C35C24-ECCB-42FE-E587-8E16CB1F1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Cibler un élément html – méthode 2 – accès indirect</a:t>
            </a:r>
          </a:p>
          <a:p>
            <a:pPr lvl="2"/>
            <a:r>
              <a:rPr lang="fr-FR" dirty="0"/>
              <a:t>Supposons que nous avons un élément </a:t>
            </a:r>
            <a:r>
              <a:rPr lang="fr-FR" dirty="0" err="1"/>
              <a:t>elem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vers le bas</a:t>
            </a:r>
            <a:endParaRPr lang="fr-FR" dirty="0"/>
          </a:p>
          <a:p>
            <a:pPr lvl="3"/>
            <a:r>
              <a:rPr lang="fr-FR" dirty="0" err="1"/>
              <a:t>Elem.childNodes</a:t>
            </a:r>
            <a:r>
              <a:rPr lang="fr-FR" dirty="0"/>
              <a:t> : collections de fils de </a:t>
            </a:r>
            <a:r>
              <a:rPr lang="fr-FR" dirty="0" err="1"/>
              <a:t>elem</a:t>
            </a:r>
            <a:r>
              <a:rPr lang="fr-FR" dirty="0"/>
              <a:t>, qui sont</a:t>
            </a:r>
          </a:p>
          <a:p>
            <a:pPr lvl="4"/>
            <a:r>
              <a:rPr lang="fr-FR" dirty="0"/>
              <a:t>Soit des éléments </a:t>
            </a:r>
            <a:r>
              <a:rPr lang="fr-FR" dirty="0" err="1"/>
              <a:t>eux-même</a:t>
            </a:r>
            <a:endParaRPr lang="fr-FR" dirty="0"/>
          </a:p>
          <a:p>
            <a:pPr lvl="4"/>
            <a:r>
              <a:rPr lang="fr-FR" dirty="0"/>
              <a:t>Soit des données textuelles</a:t>
            </a:r>
          </a:p>
          <a:p>
            <a:pPr lvl="3"/>
            <a:r>
              <a:rPr lang="fr-FR" dirty="0" err="1"/>
              <a:t>Elem.children</a:t>
            </a:r>
            <a:r>
              <a:rPr lang="fr-FR" dirty="0"/>
              <a:t> : collection des éléments fils de </a:t>
            </a:r>
            <a:r>
              <a:rPr lang="fr-FR" dirty="0" err="1"/>
              <a:t>elem</a:t>
            </a:r>
            <a:r>
              <a:rPr lang="fr-FR" dirty="0"/>
              <a:t> (sans les données textuelles ⚠️)</a:t>
            </a:r>
          </a:p>
          <a:p>
            <a:pPr lvl="3"/>
            <a:r>
              <a:rPr lang="fr-FR" dirty="0" err="1"/>
              <a:t>Elem.firstChild</a:t>
            </a:r>
            <a:r>
              <a:rPr lang="fr-FR" dirty="0"/>
              <a:t>, .</a:t>
            </a:r>
            <a:r>
              <a:rPr lang="fr-FR" dirty="0" err="1"/>
              <a:t>firstElementChild</a:t>
            </a:r>
            <a:r>
              <a:rPr lang="fr-FR" dirty="0"/>
              <a:t>, …</a:t>
            </a:r>
          </a:p>
          <a:p>
            <a:pPr lvl="2"/>
            <a:r>
              <a:rPr lang="fr-FR" dirty="0"/>
              <a:t>Supposons que nous avons un élément </a:t>
            </a:r>
            <a:r>
              <a:rPr lang="fr-FR" dirty="0" err="1"/>
              <a:t>elem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vers le haut</a:t>
            </a: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Elem.parentNode</a:t>
            </a:r>
            <a:endParaRPr lang="fr-FR" dirty="0">
              <a:sym typeface="Wingdings" panose="05000000000000000000" pitchFamily="2" charset="2"/>
            </a:endParaRPr>
          </a:p>
          <a:p>
            <a:pPr lvl="2"/>
            <a:r>
              <a:rPr lang="fr-FR" dirty="0"/>
              <a:t>Supposons que nous avons un élément </a:t>
            </a:r>
            <a:r>
              <a:rPr lang="fr-FR" dirty="0" err="1"/>
              <a:t>elem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horizontalement</a:t>
            </a: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Elem.nextSibling</a:t>
            </a:r>
            <a:r>
              <a:rPr lang="fr-FR" dirty="0">
                <a:sym typeface="Wingdings" panose="05000000000000000000" pitchFamily="2" charset="2"/>
              </a:rPr>
              <a:t>, …</a:t>
            </a:r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2539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BEC7-A87F-0CB5-2D08-E1718EFA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3154A9-1A37-63B1-BC1A-78EB0EE0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BE8F4801-FB57-A903-9B3C-D38F9DE5D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Cibler un élément html – méthode 3 – recherche</a:t>
            </a:r>
          </a:p>
          <a:p>
            <a:pPr lvl="2"/>
            <a:r>
              <a:rPr lang="fr-FR" dirty="0"/>
              <a:t>Selon l’identificateur</a:t>
            </a:r>
          </a:p>
          <a:p>
            <a:pPr lvl="3"/>
            <a:r>
              <a:rPr lang="fr-FR" dirty="0" err="1"/>
              <a:t>Document.getElementById</a:t>
            </a:r>
            <a:r>
              <a:rPr lang="fr-FR" dirty="0"/>
              <a:t> (renvoie une réponse unique !)</a:t>
            </a:r>
          </a:p>
          <a:p>
            <a:pPr lvl="2"/>
            <a:r>
              <a:rPr lang="fr-FR" dirty="0"/>
              <a:t>Selon la balise</a:t>
            </a:r>
          </a:p>
          <a:p>
            <a:pPr lvl="3"/>
            <a:r>
              <a:rPr lang="fr-FR" dirty="0" err="1"/>
              <a:t>Document.getElementsByTagName</a:t>
            </a:r>
            <a:r>
              <a:rPr lang="fr-FR" dirty="0"/>
              <a:t>(balise) (renvoie plusieurs réponses)</a:t>
            </a:r>
          </a:p>
          <a:p>
            <a:pPr lvl="2"/>
            <a:r>
              <a:rPr lang="fr-FR" dirty="0"/>
              <a:t>Selon la classe</a:t>
            </a:r>
          </a:p>
          <a:p>
            <a:pPr lvl="3"/>
            <a:r>
              <a:rPr lang="fr-FR" dirty="0" err="1"/>
              <a:t>Document.getElementsByClassName</a:t>
            </a:r>
            <a:r>
              <a:rPr lang="fr-FR" dirty="0"/>
              <a:t>(classe) (renvoie plusieurs réponses)</a:t>
            </a:r>
          </a:p>
          <a:p>
            <a:pPr lvl="3"/>
            <a:endParaRPr lang="fr-FR" dirty="0"/>
          </a:p>
          <a:p>
            <a:pPr lvl="3"/>
            <a:r>
              <a:rPr lang="fr-FR" dirty="0"/>
              <a:t>Le résultat est une collection d’éléments, assimilable dans la plupart des cas à un tableau. Si ce n’est pas le cas, on peut le convertir :</a:t>
            </a:r>
          </a:p>
          <a:p>
            <a:pPr lvl="4"/>
            <a:r>
              <a:rPr lang="fr-FR" dirty="0" err="1"/>
              <a:t>Array.of</a:t>
            </a:r>
            <a:r>
              <a:rPr lang="fr-FR" dirty="0"/>
              <a:t>(…collection)</a:t>
            </a:r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8321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F8387-F674-FFA0-5B18-11A96AC0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ACD20C-8629-F487-30FB-E4801562C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Cibler un élément html – méthode 3 – recherche</a:t>
            </a:r>
          </a:p>
          <a:p>
            <a:pPr lvl="2"/>
            <a:r>
              <a:rPr lang="fr-FR" dirty="0"/>
              <a:t>Selon le sélecteur CSS</a:t>
            </a:r>
          </a:p>
          <a:p>
            <a:pPr lvl="3"/>
            <a:r>
              <a:rPr lang="fr-FR" dirty="0" err="1"/>
              <a:t>Document.querySelector</a:t>
            </a:r>
            <a:r>
              <a:rPr lang="fr-FR" dirty="0"/>
              <a:t>(sel) </a:t>
            </a:r>
            <a:r>
              <a:rPr lang="fr-FR" dirty="0">
                <a:sym typeface="Wingdings" panose="05000000000000000000" pitchFamily="2" charset="2"/>
              </a:rPr>
              <a:t> renvoie le premier élément</a:t>
            </a: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Document.querySelectorAll</a:t>
            </a:r>
            <a:r>
              <a:rPr lang="fr-FR" dirty="0">
                <a:sym typeface="Wingdings" panose="05000000000000000000" pitchFamily="2" charset="2"/>
              </a:rPr>
              <a:t>(sel)  renvoie tous les éléments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Exemple:</a:t>
            </a:r>
          </a:p>
          <a:p>
            <a:pPr lvl="4"/>
            <a:r>
              <a:rPr lang="fr-FR" dirty="0" err="1">
                <a:sym typeface="Wingdings" panose="05000000000000000000" pitchFamily="2" charset="2"/>
              </a:rPr>
              <a:t>Document.querySelector</a:t>
            </a:r>
            <a:r>
              <a:rPr lang="fr-FR" dirty="0">
                <a:sym typeface="Wingdings" panose="05000000000000000000" pitchFamily="2" charset="2"/>
              </a:rPr>
              <a:t>(« #cadre »)</a:t>
            </a:r>
            <a:endParaRPr lang="fr-FR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8609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96ED5-6C0C-6B8A-1305-27DC1198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6014E-CCC2-CA35-4AF7-C12639508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ED97FE4-4166-3467-43BF-2C815F1DA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un élément HTML</a:t>
            </a:r>
          </a:p>
          <a:p>
            <a:pPr lvl="2"/>
            <a:r>
              <a:rPr lang="fr-FR" dirty="0"/>
              <a:t>On peut modifier</a:t>
            </a:r>
          </a:p>
          <a:p>
            <a:pPr lvl="3"/>
            <a:r>
              <a:rPr lang="fr-FR" dirty="0"/>
              <a:t>Le contenu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innerHTML</a:t>
            </a:r>
            <a:r>
              <a:rPr lang="fr-FR" dirty="0">
                <a:sym typeface="Wingdings" panose="05000000000000000000" pitchFamily="2" charset="2"/>
              </a:rPr>
              <a:t>, </a:t>
            </a:r>
            <a:r>
              <a:rPr lang="fr-FR" dirty="0" err="1">
                <a:sym typeface="Wingdings" panose="05000000000000000000" pitchFamily="2" charset="2"/>
              </a:rPr>
              <a:t>textContent</a:t>
            </a:r>
            <a:endParaRPr lang="fr-FR" dirty="0">
              <a:sym typeface="Wingdings" panose="05000000000000000000" pitchFamily="2" charset="2"/>
            </a:endParaRPr>
          </a:p>
          <a:p>
            <a:pPr lvl="3"/>
            <a:r>
              <a:rPr lang="fr-FR" dirty="0">
                <a:sym typeface="Wingdings" panose="05000000000000000000" pitchFamily="2" charset="2"/>
              </a:rPr>
              <a:t>La valeur des attributs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Le style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Les classes  </a:t>
            </a:r>
            <a:r>
              <a:rPr lang="fr-FR" dirty="0" err="1">
                <a:sym typeface="Wingdings" panose="05000000000000000000" pitchFamily="2" charset="2"/>
              </a:rPr>
              <a:t>classList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206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FE7F5-8F90-88DD-00F5-F9F9AB1D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F3CFEA-3B9E-8C8F-E613-1C775E723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un élément HTML – le contenu HTML</a:t>
            </a:r>
          </a:p>
          <a:p>
            <a:pPr lvl="2"/>
            <a:r>
              <a:rPr lang="fr-FR" dirty="0"/>
              <a:t>Le contenu tel que présenté dans l’HTML : </a:t>
            </a:r>
            <a:r>
              <a:rPr lang="fr-FR" dirty="0" err="1"/>
              <a:t>elem.innerHTML</a:t>
            </a:r>
            <a:r>
              <a:rPr lang="fr-FR" dirty="0"/>
              <a:t> (lecture et écriture)</a:t>
            </a:r>
          </a:p>
          <a:p>
            <a:pPr lvl="2"/>
            <a:r>
              <a:rPr lang="fr-FR" dirty="0"/>
              <a:t>Le contenu tel qu’affiché dans le navigateur : </a:t>
            </a:r>
            <a:r>
              <a:rPr lang="fr-FR" dirty="0" err="1"/>
              <a:t>elem.textContent</a:t>
            </a:r>
            <a:endParaRPr lang="fr-FR" dirty="0"/>
          </a:p>
          <a:p>
            <a:pPr lvl="3"/>
            <a:r>
              <a:rPr lang="fr-FR" dirty="0"/>
              <a:t>En lecture : donne le texte affiché</a:t>
            </a:r>
          </a:p>
          <a:p>
            <a:pPr lvl="3"/>
            <a:r>
              <a:rPr lang="fr-FR" dirty="0"/>
              <a:t>En écriture : convertit les caractères pour qu’ils soient tous affichés</a:t>
            </a:r>
          </a:p>
          <a:p>
            <a:pPr lvl="3"/>
            <a:endParaRPr lang="fr-FR" dirty="0"/>
          </a:p>
          <a:p>
            <a:pPr lvl="2"/>
            <a:r>
              <a:rPr lang="fr-FR" dirty="0"/>
              <a:t>Exemple :</a:t>
            </a:r>
          </a:p>
          <a:p>
            <a:pPr lvl="3"/>
            <a:r>
              <a:rPr lang="fr-FR" dirty="0" err="1"/>
              <a:t>Elem.innerHTML</a:t>
            </a:r>
            <a:r>
              <a:rPr lang="fr-FR" dirty="0"/>
              <a:t> = 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</a:t>
            </a:r>
          </a:p>
          <a:p>
            <a:pPr lvl="3"/>
            <a:r>
              <a:rPr lang="fr-FR" dirty="0" err="1"/>
              <a:t>Elem.textContent</a:t>
            </a:r>
            <a:r>
              <a:rPr lang="fr-FR" dirty="0"/>
              <a:t> = 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 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32114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739E-198C-922F-D2F1-14F45B4F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A9AB72-A30B-86B5-EB24-0682698A3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35D948-FC6D-0ED6-3BB8-9E7BD44A8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un élément HTML – la valeur des attributs</a:t>
            </a:r>
          </a:p>
          <a:p>
            <a:pPr lvl="2"/>
            <a:r>
              <a:rPr lang="fr-FR" dirty="0"/>
              <a:t>Utiliser le nom de l’attribut comme propriété</a:t>
            </a:r>
          </a:p>
          <a:p>
            <a:pPr lvl="3"/>
            <a:r>
              <a:rPr lang="fr-FR" dirty="0"/>
              <a:t>HTML : </a:t>
            </a:r>
          </a:p>
          <a:p>
            <a:pPr lvl="4"/>
            <a:r>
              <a:rPr lang="fr-FR" dirty="0"/>
              <a:t>&lt;a href=« http://www.site.be »&gt;Vers le site&lt;/a&gt;</a:t>
            </a:r>
          </a:p>
          <a:p>
            <a:pPr lvl="4"/>
            <a:r>
              <a:rPr lang="fr-FR" dirty="0"/>
              <a:t>&lt;</a:t>
            </a:r>
            <a:r>
              <a:rPr lang="fr-FR" dirty="0" err="1"/>
              <a:t>img</a:t>
            </a:r>
            <a:r>
              <a:rPr lang="fr-FR" dirty="0"/>
              <a:t> src=«  mon_image.jpg»/&gt;</a:t>
            </a:r>
          </a:p>
          <a:p>
            <a:pPr lvl="3"/>
            <a:r>
              <a:rPr lang="fr-FR" dirty="0"/>
              <a:t>Javascript : </a:t>
            </a:r>
          </a:p>
          <a:p>
            <a:pPr lvl="4"/>
            <a:r>
              <a:rPr lang="fr-FR" dirty="0" err="1"/>
              <a:t>Lien.href</a:t>
            </a:r>
            <a:r>
              <a:rPr lang="fr-FR" dirty="0"/>
              <a:t> = «  http://www.mon_site.be»;</a:t>
            </a:r>
          </a:p>
          <a:p>
            <a:pPr lvl="4"/>
            <a:r>
              <a:rPr lang="fr-FR" dirty="0" err="1"/>
              <a:t>Image.src</a:t>
            </a:r>
            <a:r>
              <a:rPr lang="fr-FR" dirty="0"/>
              <a:t> = «  monImage.jpg»;</a:t>
            </a:r>
          </a:p>
        </p:txBody>
      </p:sp>
    </p:spTree>
    <p:extLst>
      <p:ext uri="{BB962C8B-B14F-4D97-AF65-F5344CB8AC3E}">
        <p14:creationId xmlns:p14="http://schemas.microsoft.com/office/powerpoint/2010/main" val="3347006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BB139-4F80-E416-6841-7696B7F2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841C75-212F-A070-3536-2921D76B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2632D2-CCB9-582A-7233-B4A1546B3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un élément HTML – le style d’affichage</a:t>
            </a:r>
          </a:p>
          <a:p>
            <a:pPr lvl="2"/>
            <a:r>
              <a:rPr lang="fr-FR" dirty="0"/>
              <a:t>Via la propriété style de l’élément</a:t>
            </a:r>
          </a:p>
          <a:p>
            <a:pPr lvl="3"/>
            <a:r>
              <a:rPr lang="fr-FR" dirty="0" err="1"/>
              <a:t>Elem.style.backgroundColor</a:t>
            </a:r>
            <a:r>
              <a:rPr lang="fr-FR" dirty="0"/>
              <a:t> = « black »;</a:t>
            </a:r>
          </a:p>
          <a:p>
            <a:pPr lvl="3"/>
            <a:r>
              <a:rPr lang="fr-FR" dirty="0" err="1"/>
              <a:t>Elem.style.color</a:t>
            </a:r>
            <a:r>
              <a:rPr lang="fr-FR" dirty="0"/>
              <a:t> = «  </a:t>
            </a:r>
            <a:r>
              <a:rPr lang="fr-FR" dirty="0" err="1"/>
              <a:t>yellow</a:t>
            </a:r>
            <a:r>
              <a:rPr lang="fr-FR" dirty="0"/>
              <a:t>»;</a:t>
            </a:r>
          </a:p>
        </p:txBody>
      </p:sp>
    </p:spTree>
    <p:extLst>
      <p:ext uri="{BB962C8B-B14F-4D97-AF65-F5344CB8AC3E}">
        <p14:creationId xmlns:p14="http://schemas.microsoft.com/office/powerpoint/2010/main" val="2333974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65B2-7B80-18A2-75A5-9883643C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F039DE-43E3-B221-46E6-3D6CBC4B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1C8EBC-2F52-5990-FA20-20E69966C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un élément HTML – la classe</a:t>
            </a:r>
          </a:p>
          <a:p>
            <a:pPr lvl="2"/>
            <a:r>
              <a:rPr lang="fr-FR" dirty="0"/>
              <a:t>Utiliser la propriété </a:t>
            </a:r>
            <a:r>
              <a:rPr lang="fr-FR" dirty="0" err="1"/>
              <a:t>classList</a:t>
            </a:r>
            <a:r>
              <a:rPr lang="fr-FR" dirty="0"/>
              <a:t> de l’élément:</a:t>
            </a:r>
          </a:p>
          <a:p>
            <a:pPr lvl="3"/>
            <a:r>
              <a:rPr lang="fr-FR" dirty="0" err="1"/>
              <a:t>Elem.classList.add</a:t>
            </a:r>
            <a:r>
              <a:rPr lang="fr-FR" dirty="0"/>
              <a:t>(nom) : ajouter une classe</a:t>
            </a:r>
          </a:p>
          <a:p>
            <a:pPr lvl="3"/>
            <a:r>
              <a:rPr lang="fr-FR" dirty="0" err="1"/>
              <a:t>Elem.classList.remove</a:t>
            </a:r>
            <a:r>
              <a:rPr lang="fr-FR" dirty="0"/>
              <a:t>(nom) : retirer une classe</a:t>
            </a:r>
          </a:p>
          <a:p>
            <a:pPr lvl="3"/>
            <a:r>
              <a:rPr lang="fr-FR" dirty="0" err="1"/>
              <a:t>Elem.classList.toggle</a:t>
            </a:r>
            <a:r>
              <a:rPr lang="fr-FR" dirty="0"/>
              <a:t>(nom) :  ajoute la classe si elle n’est pas présente, la supprime sinon</a:t>
            </a:r>
          </a:p>
          <a:p>
            <a:pPr lvl="3"/>
            <a:r>
              <a:rPr lang="fr-FR" dirty="0" err="1"/>
              <a:t>Elem.classList.contains</a:t>
            </a:r>
            <a:r>
              <a:rPr lang="fr-FR" dirty="0"/>
              <a:t>(nom) : indique si une classe est présente ou pas</a:t>
            </a:r>
          </a:p>
        </p:txBody>
      </p:sp>
    </p:spTree>
    <p:extLst>
      <p:ext uri="{BB962C8B-B14F-4D97-AF65-F5344CB8AC3E}">
        <p14:creationId xmlns:p14="http://schemas.microsoft.com/office/powerpoint/2010/main" val="2656199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7546B-7CBD-4D4B-23E6-1F3287B8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05AC66-DFB4-FB2C-F7BD-41879FA06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FDB20012-372C-3E73-4DCE-86F330C75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l’arborescence HTML – supprimer un nœud</a:t>
            </a:r>
          </a:p>
          <a:p>
            <a:pPr lvl="2"/>
            <a:r>
              <a:rPr lang="fr-FR" dirty="0"/>
              <a:t>Supprimer le fils d’un élément</a:t>
            </a:r>
          </a:p>
          <a:p>
            <a:pPr lvl="3"/>
            <a:r>
              <a:rPr lang="fr-FR" dirty="0" err="1"/>
              <a:t>Elem.removeChild</a:t>
            </a:r>
            <a:r>
              <a:rPr lang="fr-FR" dirty="0"/>
              <a:t>(fils);</a:t>
            </a:r>
          </a:p>
          <a:p>
            <a:pPr lvl="2"/>
            <a:r>
              <a:rPr lang="fr-FR" dirty="0"/>
              <a:t>Supprimer tous les fils d’un élément</a:t>
            </a:r>
          </a:p>
          <a:p>
            <a:pPr lvl="3"/>
            <a:r>
              <a:rPr lang="fr-FR" dirty="0" err="1"/>
              <a:t>Elem.innerHTML</a:t>
            </a:r>
            <a:r>
              <a:rPr lang="fr-FR" dirty="0"/>
              <a:t> = «  »;</a:t>
            </a:r>
            <a:endParaRPr lang="fr-BE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8405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7D54F-4824-8203-3F15-34BF54D6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A8D6DE-9116-FB77-A8E2-CE890185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81BED1E-D560-AD26-ADC3-E475F86D1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l’arborescence HTML – déplacer un nœud </a:t>
            </a:r>
          </a:p>
          <a:p>
            <a:pPr lvl="2"/>
            <a:r>
              <a:rPr lang="fr-FR" dirty="0"/>
              <a:t>On place l’élément </a:t>
            </a:r>
            <a:r>
              <a:rPr lang="fr-FR" b="1" dirty="0"/>
              <a:t>existant</a:t>
            </a:r>
            <a:r>
              <a:rPr lang="fr-FR" dirty="0"/>
              <a:t> comme fils d’un nœud parent</a:t>
            </a:r>
          </a:p>
          <a:p>
            <a:pPr lvl="2"/>
            <a:r>
              <a:rPr lang="fr-FR" dirty="0"/>
              <a:t>Trois positions</a:t>
            </a:r>
          </a:p>
          <a:p>
            <a:pPr lvl="3"/>
            <a:r>
              <a:rPr lang="fr-FR" dirty="0" err="1"/>
              <a:t>noeudParent.appendChild</a:t>
            </a:r>
            <a:r>
              <a:rPr lang="fr-FR" dirty="0"/>
              <a:t>(</a:t>
            </a:r>
            <a:r>
              <a:rPr lang="fr-FR" dirty="0" err="1"/>
              <a:t>elem</a:t>
            </a:r>
            <a:r>
              <a:rPr lang="fr-FR" dirty="0"/>
              <a:t>) </a:t>
            </a:r>
            <a:r>
              <a:rPr lang="fr-FR" dirty="0">
                <a:sym typeface="Wingdings" panose="05000000000000000000" pitchFamily="2" charset="2"/>
              </a:rPr>
              <a:t> ajoute après le contenu existant de </a:t>
            </a:r>
            <a:r>
              <a:rPr lang="fr-FR" dirty="0" err="1">
                <a:sym typeface="Wingdings" panose="05000000000000000000" pitchFamily="2" charset="2"/>
              </a:rPr>
              <a:t>noeudParent</a:t>
            </a:r>
            <a:endParaRPr lang="fr-FR" dirty="0">
              <a:sym typeface="Wingdings" panose="05000000000000000000" pitchFamily="2" charset="2"/>
            </a:endParaRP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noeudParent.insertBefore</a:t>
            </a:r>
            <a:r>
              <a:rPr lang="fr-FR" dirty="0">
                <a:sym typeface="Wingdings" panose="05000000000000000000" pitchFamily="2" charset="2"/>
              </a:rPr>
              <a:t>(</a:t>
            </a:r>
            <a:r>
              <a:rPr lang="fr-FR" dirty="0" err="1">
                <a:sym typeface="Wingdings" panose="05000000000000000000" pitchFamily="2" charset="2"/>
              </a:rPr>
              <a:t>elem,filsParent</a:t>
            </a:r>
            <a:r>
              <a:rPr lang="fr-FR" dirty="0">
                <a:sym typeface="Wingdings" panose="05000000000000000000" pitchFamily="2" charset="2"/>
              </a:rPr>
              <a:t>)  ajoute </a:t>
            </a:r>
            <a:r>
              <a:rPr lang="fr-FR" dirty="0" err="1">
                <a:sym typeface="Wingdings" panose="05000000000000000000" pitchFamily="2" charset="2"/>
              </a:rPr>
              <a:t>elem</a:t>
            </a:r>
            <a:r>
              <a:rPr lang="fr-FR" dirty="0">
                <a:sym typeface="Wingdings" panose="05000000000000000000" pitchFamily="2" charset="2"/>
              </a:rPr>
              <a:t> dans </a:t>
            </a:r>
            <a:r>
              <a:rPr lang="fr-FR" dirty="0" err="1">
                <a:sym typeface="Wingdings" panose="05000000000000000000" pitchFamily="2" charset="2"/>
              </a:rPr>
              <a:t>noeudParent</a:t>
            </a:r>
            <a:r>
              <a:rPr lang="fr-FR" dirty="0">
                <a:sym typeface="Wingdings" panose="05000000000000000000" pitchFamily="2" charset="2"/>
              </a:rPr>
              <a:t>, juste avant </a:t>
            </a:r>
            <a:r>
              <a:rPr lang="fr-FR" dirty="0" err="1">
                <a:sym typeface="Wingdings" panose="05000000000000000000" pitchFamily="2" charset="2"/>
              </a:rPr>
              <a:t>filsParent</a:t>
            </a:r>
            <a:endParaRPr lang="fr-FR" dirty="0">
              <a:sym typeface="Wingdings" panose="05000000000000000000" pitchFamily="2" charset="2"/>
            </a:endParaRP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noeudParent.replaceChild</a:t>
            </a:r>
            <a:r>
              <a:rPr lang="fr-FR" dirty="0">
                <a:sym typeface="Wingdings" panose="05000000000000000000" pitchFamily="2" charset="2"/>
              </a:rPr>
              <a:t>(</a:t>
            </a:r>
            <a:r>
              <a:rPr lang="fr-FR" dirty="0" err="1">
                <a:sym typeface="Wingdings" panose="05000000000000000000" pitchFamily="2" charset="2"/>
              </a:rPr>
              <a:t>elem,filsParent</a:t>
            </a:r>
            <a:r>
              <a:rPr lang="fr-FR" dirty="0">
                <a:sym typeface="Wingdings" panose="05000000000000000000" pitchFamily="2" charset="2"/>
              </a:rPr>
              <a:t>) remplace le fils </a:t>
            </a:r>
            <a:r>
              <a:rPr lang="fr-FR" dirty="0" err="1">
                <a:sym typeface="Wingdings" panose="05000000000000000000" pitchFamily="2" charset="2"/>
              </a:rPr>
              <a:t>filsParent</a:t>
            </a:r>
            <a:r>
              <a:rPr lang="fr-FR" dirty="0">
                <a:sym typeface="Wingdings" panose="05000000000000000000" pitchFamily="2" charset="2"/>
              </a:rPr>
              <a:t> de </a:t>
            </a:r>
            <a:r>
              <a:rPr lang="fr-FR" dirty="0" err="1">
                <a:sym typeface="Wingdings" panose="05000000000000000000" pitchFamily="2" charset="2"/>
              </a:rPr>
              <a:t>noeudParent</a:t>
            </a:r>
            <a:r>
              <a:rPr lang="fr-FR" dirty="0">
                <a:sym typeface="Wingdings" panose="05000000000000000000" pitchFamily="2" charset="2"/>
              </a:rPr>
              <a:t> par </a:t>
            </a:r>
            <a:r>
              <a:rPr lang="fr-FR" dirty="0" err="1">
                <a:sym typeface="Wingdings" panose="05000000000000000000" pitchFamily="2" charset="2"/>
              </a:rPr>
              <a:t>elem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43083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6313C-0C41-672D-14D1-408D1357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E4EBC-AB27-0CE1-F757-6654AA3A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E31FAB2F-7A62-168D-BBA6-377F0CADC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l’arborescence HTML – ajouter un nouveau nœud </a:t>
            </a:r>
          </a:p>
          <a:p>
            <a:pPr lvl="2"/>
            <a:r>
              <a:rPr lang="fr-FR" dirty="0"/>
              <a:t>Créer un nouveau nœud</a:t>
            </a:r>
          </a:p>
          <a:p>
            <a:pPr lvl="3"/>
            <a:r>
              <a:rPr lang="fr-FR" dirty="0"/>
              <a:t>Exemple: let </a:t>
            </a:r>
            <a:r>
              <a:rPr lang="fr-FR" dirty="0" err="1"/>
              <a:t>nvNoeud</a:t>
            </a:r>
            <a:r>
              <a:rPr lang="fr-FR" dirty="0"/>
              <a:t> = </a:t>
            </a:r>
            <a:r>
              <a:rPr lang="fr-FR" b="1" dirty="0" err="1"/>
              <a:t>document.createElement</a:t>
            </a:r>
            <a:r>
              <a:rPr lang="fr-FR" dirty="0"/>
              <a:t>(« a »);</a:t>
            </a:r>
          </a:p>
          <a:p>
            <a:pPr lvl="2"/>
            <a:r>
              <a:rPr lang="fr-FR" dirty="0"/>
              <a:t>Remplir le nouveau nœud </a:t>
            </a:r>
          </a:p>
          <a:p>
            <a:pPr lvl="3"/>
            <a:r>
              <a:rPr lang="fr-FR" dirty="0"/>
              <a:t>Définir le contenu (</a:t>
            </a:r>
            <a:r>
              <a:rPr lang="fr-FR" dirty="0" err="1"/>
              <a:t>innerHTML</a:t>
            </a:r>
            <a:r>
              <a:rPr lang="fr-FR" dirty="0"/>
              <a:t>) et/ou les attributs</a:t>
            </a:r>
          </a:p>
          <a:p>
            <a:pPr lvl="3"/>
            <a:r>
              <a:rPr lang="fr-FR" dirty="0"/>
              <a:t>Exemple : </a:t>
            </a:r>
          </a:p>
          <a:p>
            <a:pPr lvl="4"/>
            <a:r>
              <a:rPr lang="fr-FR" dirty="0" err="1"/>
              <a:t>nvNoeud.innerHTML</a:t>
            </a:r>
            <a:r>
              <a:rPr lang="fr-FR" dirty="0"/>
              <a:t> = « lien »;</a:t>
            </a:r>
          </a:p>
          <a:p>
            <a:pPr lvl="4"/>
            <a:r>
              <a:rPr lang="fr-FR" dirty="0" err="1"/>
              <a:t>nvNoeud.href</a:t>
            </a:r>
            <a:r>
              <a:rPr lang="fr-FR" dirty="0"/>
              <a:t> = «  www.google.com»;</a:t>
            </a:r>
          </a:p>
          <a:p>
            <a:pPr lvl="2"/>
            <a:r>
              <a:rPr lang="fr-FR" dirty="0"/>
              <a:t>Placer le nœud (voir 3 méthodes de déplacement)</a:t>
            </a:r>
          </a:p>
          <a:p>
            <a:pPr lvl="3"/>
            <a:r>
              <a:rPr lang="fr-FR" dirty="0"/>
              <a:t>Exemple : </a:t>
            </a:r>
            <a:r>
              <a:rPr lang="fr-FR" dirty="0" err="1"/>
              <a:t>parentNode.appendChild</a:t>
            </a:r>
            <a:r>
              <a:rPr lang="fr-FR" dirty="0"/>
              <a:t>(</a:t>
            </a:r>
            <a:r>
              <a:rPr lang="fr-FR" dirty="0" err="1"/>
              <a:t>nvNoeud</a:t>
            </a:r>
            <a:r>
              <a:rPr lang="fr-FR" dirty="0"/>
              <a:t>)</a:t>
            </a:r>
          </a:p>
          <a:p>
            <a:pPr marL="457200" lvl="1" indent="0">
              <a:buNone/>
            </a:pPr>
            <a:endParaRPr lang="fr-FR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40443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8323D-D021-7E23-699E-1F7D4281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6A5E9-9BA9-03F1-9224-A463C6BB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0771A5E-7564-AF66-59ED-B00ABDC39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71286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CD662-7273-3FF5-A1FB-7E925A14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E6881D-3C49-DF0B-0395-BDF2CE916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69384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3DBDC4-FE78-1B20-5930-DE515B78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39E448-C543-8CE5-6340-97C716D34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 des évènements</a:t>
            </a:r>
          </a:p>
          <a:p>
            <a:pPr lvl="1"/>
            <a:r>
              <a:rPr lang="fr-FR" dirty="0"/>
              <a:t>La programmation </a:t>
            </a:r>
            <a:r>
              <a:rPr lang="fr-FR" dirty="0" err="1"/>
              <a:t>évenementielle</a:t>
            </a:r>
            <a:r>
              <a:rPr lang="fr-FR" dirty="0"/>
              <a:t>, c’est associer :</a:t>
            </a:r>
          </a:p>
          <a:p>
            <a:pPr lvl="2"/>
            <a:r>
              <a:rPr lang="fr-FR" dirty="0"/>
              <a:t>Des scripts à exécuter</a:t>
            </a:r>
          </a:p>
          <a:p>
            <a:pPr lvl="2"/>
            <a:r>
              <a:rPr lang="fr-FR" dirty="0"/>
              <a:t>Avec des évènements déclencheurs</a:t>
            </a:r>
          </a:p>
          <a:p>
            <a:pPr lvl="2"/>
            <a:r>
              <a:rPr lang="fr-FR" dirty="0"/>
              <a:t>Exemple :</a:t>
            </a:r>
          </a:p>
          <a:p>
            <a:pPr lvl="3"/>
            <a:r>
              <a:rPr lang="fr-FR" dirty="0"/>
              <a:t>Clic sur un bouton</a:t>
            </a:r>
          </a:p>
          <a:p>
            <a:pPr lvl="3"/>
            <a:r>
              <a:rPr lang="fr-FR" dirty="0"/>
              <a:t>Passage de souris au-dessus d’une image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Le DOM permet d’associer des scripts à une série d’évènements prédéfinis pour chacun des éléments HTML.</a:t>
            </a:r>
          </a:p>
        </p:txBody>
      </p:sp>
    </p:spTree>
    <p:extLst>
      <p:ext uri="{BB962C8B-B14F-4D97-AF65-F5344CB8AC3E}">
        <p14:creationId xmlns:p14="http://schemas.microsoft.com/office/powerpoint/2010/main" val="3926092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FA06-1C14-79D9-F958-5C7C4A83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7E8FD5-A256-4936-94EA-764D47E71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8E1682-8BA4-B15E-9CD2-BDC7FD07A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 des évènements</a:t>
            </a:r>
          </a:p>
          <a:p>
            <a:pPr lvl="1"/>
            <a:r>
              <a:rPr lang="fr-FR" dirty="0"/>
              <a:t>Exemples :</a:t>
            </a:r>
          </a:p>
          <a:p>
            <a:pPr lvl="2"/>
            <a:r>
              <a:rPr lang="fr-FR" dirty="0"/>
              <a:t>Évènements de type souris : click, </a:t>
            </a:r>
            <a:r>
              <a:rPr lang="fr-FR" dirty="0" err="1"/>
              <a:t>dbclick</a:t>
            </a:r>
            <a:r>
              <a:rPr lang="fr-FR" dirty="0"/>
              <a:t>, </a:t>
            </a:r>
            <a:r>
              <a:rPr lang="fr-FR" dirty="0" err="1"/>
              <a:t>mousedown</a:t>
            </a:r>
            <a:r>
              <a:rPr lang="fr-FR" dirty="0"/>
              <a:t>, …</a:t>
            </a:r>
          </a:p>
          <a:p>
            <a:pPr lvl="2"/>
            <a:r>
              <a:rPr lang="fr-FR" dirty="0"/>
              <a:t>Évènements de type clavier : </a:t>
            </a:r>
            <a:r>
              <a:rPr lang="fr-FR" dirty="0" err="1"/>
              <a:t>keypress</a:t>
            </a:r>
            <a:r>
              <a:rPr lang="fr-FR" dirty="0"/>
              <a:t>, </a:t>
            </a:r>
            <a:r>
              <a:rPr lang="fr-FR" dirty="0" err="1"/>
              <a:t>keydown</a:t>
            </a:r>
            <a:r>
              <a:rPr lang="fr-FR" dirty="0"/>
              <a:t>, …</a:t>
            </a:r>
          </a:p>
          <a:p>
            <a:pPr lvl="2"/>
            <a:r>
              <a:rPr lang="fr-FR" dirty="0"/>
              <a:t>Évènements généraux : </a:t>
            </a:r>
            <a:r>
              <a:rPr lang="fr-FR" dirty="0" err="1"/>
              <a:t>load</a:t>
            </a:r>
            <a:r>
              <a:rPr lang="fr-FR" dirty="0"/>
              <a:t>, </a:t>
            </a:r>
            <a:r>
              <a:rPr lang="fr-FR" dirty="0" err="1"/>
              <a:t>error</a:t>
            </a:r>
            <a:r>
              <a:rPr lang="fr-FR" dirty="0"/>
              <a:t>, </a:t>
            </a:r>
            <a:r>
              <a:rPr lang="fr-FR" dirty="0" err="1"/>
              <a:t>resize</a:t>
            </a:r>
            <a:r>
              <a:rPr lang="fr-FR" dirty="0"/>
              <a:t>, …</a:t>
            </a:r>
          </a:p>
          <a:p>
            <a:pPr lvl="2"/>
            <a:r>
              <a:rPr lang="fr-FR" dirty="0"/>
              <a:t>Évènements de type « formulaire » : </a:t>
            </a:r>
            <a:r>
              <a:rPr lang="fr-FR" dirty="0" err="1"/>
              <a:t>blur</a:t>
            </a:r>
            <a:r>
              <a:rPr lang="fr-FR" dirty="0"/>
              <a:t>, focus, select, change, </a:t>
            </a:r>
            <a:r>
              <a:rPr lang="fr-FR" dirty="0" err="1"/>
              <a:t>submit</a:t>
            </a:r>
            <a:r>
              <a:rPr lang="fr-FR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960933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6A9B-C2A9-4E11-D88C-45D0360D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31DE45-1C28-AABF-D488-0EBC69DC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FC8228-E2C4-81EB-9AA0-C77B3B593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Associer une action à un évènement</a:t>
            </a:r>
          </a:p>
          <a:p>
            <a:pPr lvl="1"/>
            <a:r>
              <a:rPr lang="fr-FR" dirty="0"/>
              <a:t>L’action à exécuter lors d’un évènement déclencheur</a:t>
            </a:r>
          </a:p>
          <a:p>
            <a:pPr lvl="2"/>
            <a:r>
              <a:rPr lang="fr-FR" dirty="0"/>
              <a:t>Se présente sous la forme d’une fonction JS</a:t>
            </a:r>
          </a:p>
          <a:p>
            <a:pPr lvl="2"/>
            <a:r>
              <a:rPr lang="fr-FR" dirty="0"/>
              <a:t>Qui peut recevoir un argument décrivant l’évènement</a:t>
            </a:r>
          </a:p>
          <a:p>
            <a:pPr lvl="1"/>
            <a:r>
              <a:rPr lang="fr-FR" dirty="0"/>
              <a:t>L’évènement est décrit par un objet « </a:t>
            </a:r>
            <a:r>
              <a:rPr lang="fr-FR" dirty="0" err="1"/>
              <a:t>evt</a:t>
            </a:r>
            <a:r>
              <a:rPr lang="fr-FR" dirty="0"/>
              <a:t> » possédant diverses propriétés.</a:t>
            </a:r>
          </a:p>
          <a:p>
            <a:pPr lvl="2"/>
            <a:r>
              <a:rPr lang="fr-FR" dirty="0" err="1"/>
              <a:t>Evt.clientX</a:t>
            </a:r>
            <a:r>
              <a:rPr lang="fr-FR" dirty="0"/>
              <a:t>, </a:t>
            </a:r>
            <a:r>
              <a:rPr lang="fr-FR" dirty="0" err="1"/>
              <a:t>evt.clientY</a:t>
            </a:r>
            <a:r>
              <a:rPr lang="fr-FR" dirty="0"/>
              <a:t> : coordonnées de la souris dans la </a:t>
            </a:r>
            <a:r>
              <a:rPr lang="fr-FR" dirty="0" err="1"/>
              <a:t>fenètre</a:t>
            </a:r>
            <a:endParaRPr lang="fr-FR" dirty="0"/>
          </a:p>
          <a:p>
            <a:pPr lvl="2"/>
            <a:r>
              <a:rPr lang="fr-FR" dirty="0" err="1"/>
              <a:t>Evt.offsetX</a:t>
            </a:r>
            <a:r>
              <a:rPr lang="fr-FR" dirty="0"/>
              <a:t>, </a:t>
            </a:r>
            <a:r>
              <a:rPr lang="fr-FR" dirty="0" err="1"/>
              <a:t>evt.offsetY</a:t>
            </a:r>
            <a:r>
              <a:rPr lang="fr-FR" dirty="0"/>
              <a:t> : coordonnées de la souris dans l’élément</a:t>
            </a:r>
          </a:p>
          <a:p>
            <a:pPr lvl="2"/>
            <a:r>
              <a:rPr lang="fr-FR" dirty="0" err="1"/>
              <a:t>Evt.keyCode</a:t>
            </a:r>
            <a:r>
              <a:rPr lang="fr-FR" dirty="0"/>
              <a:t> : code ascii de la touche pressée</a:t>
            </a:r>
          </a:p>
          <a:p>
            <a:pPr lvl="2"/>
            <a:r>
              <a:rPr lang="fr-FR" dirty="0" err="1"/>
              <a:t>Evt.target</a:t>
            </a:r>
            <a:r>
              <a:rPr lang="fr-FR" dirty="0"/>
              <a:t> : élément qui est à l’origine de l’évènement</a:t>
            </a:r>
          </a:p>
          <a:p>
            <a:pPr lvl="2"/>
            <a:r>
              <a:rPr lang="fr-FR" dirty="0" err="1"/>
              <a:t>Evt.currentTarget</a:t>
            </a:r>
            <a:r>
              <a:rPr lang="fr-FR" dirty="0"/>
              <a:t> : élément actuellement en train de répondre à l’évènement</a:t>
            </a:r>
          </a:p>
          <a:p>
            <a:pPr lvl="2"/>
            <a:r>
              <a:rPr lang="fr-FR" dirty="0" err="1"/>
              <a:t>Evt.type</a:t>
            </a:r>
            <a:r>
              <a:rPr lang="fr-FR" dirty="0"/>
              <a:t> : type de l’évènement</a:t>
            </a:r>
          </a:p>
          <a:p>
            <a:pPr lvl="2"/>
            <a:r>
              <a:rPr lang="fr-FR" dirty="0" err="1"/>
              <a:t>Evt.preventDefault</a:t>
            </a:r>
            <a:r>
              <a:rPr lang="fr-FR" dirty="0"/>
              <a:t>() : pour empêcher l’action par défaut associée à l’évènement en question.</a:t>
            </a:r>
          </a:p>
        </p:txBody>
      </p:sp>
    </p:spTree>
    <p:extLst>
      <p:ext uri="{BB962C8B-B14F-4D97-AF65-F5344CB8AC3E}">
        <p14:creationId xmlns:p14="http://schemas.microsoft.com/office/powerpoint/2010/main" val="2477046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00B78-BFA9-2759-7D3F-8A02C9DE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B5DB59-4912-5D2A-C9CA-AA39060C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E65208-81AE-CB68-6D5D-879CFB8C2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Associer une action à un évènement</a:t>
            </a:r>
          </a:p>
          <a:p>
            <a:pPr lvl="1"/>
            <a:r>
              <a:rPr lang="fr-FR" dirty="0"/>
              <a:t>Méthode 1 – dans le code HTML</a:t>
            </a:r>
          </a:p>
          <a:p>
            <a:pPr lvl="2"/>
            <a:r>
              <a:rPr lang="fr-FR" dirty="0"/>
              <a:t>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=« action() ; »&gt; Click 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pPr lvl="1"/>
            <a:r>
              <a:rPr lang="fr-FR" dirty="0"/>
              <a:t>Méthode 2 – dynamiquement, via JS</a:t>
            </a:r>
          </a:p>
          <a:p>
            <a:pPr lvl="2"/>
            <a:r>
              <a:rPr lang="fr-FR" dirty="0" err="1"/>
              <a:t>But.addEventListener</a:t>
            </a:r>
            <a:r>
              <a:rPr lang="fr-FR" dirty="0"/>
              <a:t>(« click », action);</a:t>
            </a:r>
          </a:p>
          <a:p>
            <a:pPr lvl="3"/>
            <a:r>
              <a:rPr lang="fr-FR" dirty="0"/>
              <a:t>1</a:t>
            </a:r>
            <a:r>
              <a:rPr lang="fr-FR" baseline="30000" dirty="0"/>
              <a:t>er</a:t>
            </a:r>
            <a:r>
              <a:rPr lang="fr-FR" dirty="0"/>
              <a:t> argument = type d’évènement</a:t>
            </a:r>
          </a:p>
          <a:p>
            <a:pPr lvl="3"/>
            <a:r>
              <a:rPr lang="fr-FR" dirty="0"/>
              <a:t>2</a:t>
            </a:r>
            <a:r>
              <a:rPr lang="fr-FR" baseline="30000" dirty="0"/>
              <a:t>e</a:t>
            </a:r>
            <a:r>
              <a:rPr lang="fr-FR" dirty="0"/>
              <a:t> argument = action à accomplir (fonction)</a:t>
            </a:r>
          </a:p>
        </p:txBody>
      </p:sp>
    </p:spTree>
    <p:extLst>
      <p:ext uri="{BB962C8B-B14F-4D97-AF65-F5344CB8AC3E}">
        <p14:creationId xmlns:p14="http://schemas.microsoft.com/office/powerpoint/2010/main" val="854187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3B3D8-AB85-5A7E-A815-4860B99A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0447E-C206-530D-B4D4-C00314CF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6A8113-219A-8605-C7CD-D4F87BBF1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Associer une action à un évènement</a:t>
            </a:r>
          </a:p>
        </p:txBody>
      </p:sp>
      <p:pic>
        <p:nvPicPr>
          <p:cNvPr id="5" name="Image 4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6EC4169-C2D0-0D0E-4271-75B7D98E8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6" y="2779811"/>
            <a:ext cx="6911387" cy="1831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2376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739D-AB75-00C7-00EB-135EF8606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4A4E18-BEE0-B5BC-0B36-4488FDB3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CA889-101C-8165-5E74-63FA36F3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Retirer une action à un évènement</a:t>
            </a:r>
          </a:p>
        </p:txBody>
      </p:sp>
      <p:pic>
        <p:nvPicPr>
          <p:cNvPr id="5" name="Image 4" descr="Une image contenant texte, Police, capture d’écran, Bleu électrique&#10;&#10;Le contenu généré par l’IA peut être incorrect.">
            <a:extLst>
              <a:ext uri="{FF2B5EF4-FFF2-40B4-BE49-F238E27FC236}">
                <a16:creationId xmlns:a16="http://schemas.microsoft.com/office/drawing/2014/main" id="{4E6A4442-BF0B-6FB0-19DC-BDA2927E3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711" y="2910690"/>
            <a:ext cx="6910578" cy="19267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3299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50783-1541-E880-F91D-D2736184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8E0A0F-64EE-4B95-2071-0C62EEFE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8FBE2C-AAE5-5FA5-B39F-D245FC2C0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Évènements et phases d’exécution</a:t>
            </a:r>
          </a:p>
          <a:p>
            <a:pPr lvl="1"/>
            <a:r>
              <a:rPr lang="fr-FR" dirty="0"/>
              <a:t>Que se passe-t-il si plusieurs éléments superposés ont un évènement identique ? (ex : </a:t>
            </a:r>
            <a:r>
              <a:rPr lang="fr-FR" dirty="0" err="1"/>
              <a:t>onmouseover</a:t>
            </a:r>
            <a:r>
              <a:rPr lang="fr-FR" dirty="0"/>
              <a:t>) </a:t>
            </a:r>
          </a:p>
          <a:p>
            <a:pPr lvl="1"/>
            <a:r>
              <a:rPr lang="fr-FR" dirty="0"/>
              <a:t>On donne la main à</a:t>
            </a:r>
          </a:p>
          <a:p>
            <a:pPr marL="1371600" lvl="2" indent="-457200">
              <a:buFont typeface="+mj-lt"/>
              <a:buAutoNum type="arabicPeriod"/>
            </a:pPr>
            <a:r>
              <a:rPr lang="fr-FR" dirty="0"/>
              <a:t>Button</a:t>
            </a:r>
          </a:p>
          <a:p>
            <a:pPr marL="1371600" lvl="2" indent="-457200">
              <a:buFont typeface="+mj-lt"/>
              <a:buAutoNum type="arabicPeriod"/>
            </a:pPr>
            <a:r>
              <a:rPr lang="fr-FR" dirty="0"/>
              <a:t>P</a:t>
            </a:r>
          </a:p>
          <a:p>
            <a:pPr marL="1371600" lvl="2" indent="-457200">
              <a:buFont typeface="+mj-lt"/>
              <a:buAutoNum type="arabicPeriod"/>
            </a:pPr>
            <a:r>
              <a:rPr lang="fr-FR" dirty="0"/>
              <a:t>Body</a:t>
            </a:r>
          </a:p>
          <a:p>
            <a:pPr marL="1371600" lvl="2" indent="-457200">
              <a:buFont typeface="+mj-lt"/>
              <a:buAutoNum type="arabicPeriod"/>
            </a:pPr>
            <a:r>
              <a:rPr lang="fr-FR" dirty="0"/>
              <a:t>P</a:t>
            </a:r>
          </a:p>
          <a:p>
            <a:pPr marL="1371600" lvl="2" indent="-457200">
              <a:buFont typeface="+mj-lt"/>
              <a:buAutoNum type="arabicPeriod"/>
            </a:pPr>
            <a:r>
              <a:rPr lang="fr-FR" dirty="0"/>
              <a:t>Button</a:t>
            </a:r>
          </a:p>
          <a:p>
            <a:pPr lvl="1"/>
            <a:r>
              <a:rPr lang="fr-FR" dirty="0" err="1"/>
              <a:t>But.addEventListener</a:t>
            </a:r>
            <a:r>
              <a:rPr lang="fr-FR" dirty="0"/>
              <a:t>(« click », action, false); </a:t>
            </a:r>
          </a:p>
          <a:p>
            <a:pPr lvl="2"/>
            <a:r>
              <a:rPr lang="fr-FR" dirty="0"/>
              <a:t>3</a:t>
            </a:r>
            <a:r>
              <a:rPr lang="fr-FR" baseline="30000" dirty="0"/>
              <a:t>e</a:t>
            </a:r>
            <a:r>
              <a:rPr lang="fr-FR" dirty="0"/>
              <a:t> argument : false / </a:t>
            </a:r>
            <a:r>
              <a:rPr lang="fr-FR" dirty="0" err="1"/>
              <a:t>true</a:t>
            </a:r>
            <a:r>
              <a:rPr lang="fr-FR" dirty="0"/>
              <a:t> pour phase ascendante / descendante</a:t>
            </a:r>
          </a:p>
        </p:txBody>
      </p:sp>
      <p:pic>
        <p:nvPicPr>
          <p:cNvPr id="5" name="Image 4" descr="Une image contenant Rectangl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4B1D528-DB25-5C70-781F-FEDF9ECB2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495" y="2976632"/>
            <a:ext cx="2695951" cy="1219370"/>
          </a:xfrm>
          <a:prstGeom prst="rect">
            <a:avLst/>
          </a:prstGeom>
        </p:spPr>
      </p:pic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B436808E-14F7-0A1E-2787-94AC7BE9D4E7}"/>
              </a:ext>
            </a:extLst>
          </p:cNvPr>
          <p:cNvSpPr/>
          <p:nvPr/>
        </p:nvSpPr>
        <p:spPr>
          <a:xfrm>
            <a:off x="3165987" y="3429000"/>
            <a:ext cx="226142" cy="7670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Accolade fermante 6">
            <a:extLst>
              <a:ext uri="{FF2B5EF4-FFF2-40B4-BE49-F238E27FC236}">
                <a16:creationId xmlns:a16="http://schemas.microsoft.com/office/drawing/2014/main" id="{3E9E8E47-E04E-75FF-D8B6-51B3EF38C3DB}"/>
              </a:ext>
            </a:extLst>
          </p:cNvPr>
          <p:cNvSpPr/>
          <p:nvPr/>
        </p:nvSpPr>
        <p:spPr>
          <a:xfrm>
            <a:off x="3165987" y="4196002"/>
            <a:ext cx="226142" cy="7670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1BA6E26-1F94-0B70-5489-0A2E936CE4F4}"/>
              </a:ext>
            </a:extLst>
          </p:cNvPr>
          <p:cNvSpPr txBox="1"/>
          <p:nvPr/>
        </p:nvSpPr>
        <p:spPr>
          <a:xfrm>
            <a:off x="3529781" y="3586317"/>
            <a:ext cx="2030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Phase ascendante</a:t>
            </a:r>
            <a:endParaRPr lang="fr-BE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C3F130D-A98E-F323-9BD3-948438263B1B}"/>
              </a:ext>
            </a:extLst>
          </p:cNvPr>
          <p:cNvSpPr txBox="1"/>
          <p:nvPr/>
        </p:nvSpPr>
        <p:spPr>
          <a:xfrm>
            <a:off x="3529781" y="4394837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Phase descendante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52214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7CA4C-334B-51C0-EBCC-B38BCDCA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BE5EA0-14FA-2A48-684F-6A6E9A02C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550FC4-2562-6BFE-1D99-53A43D914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Window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L’objet </a:t>
            </a:r>
            <a:r>
              <a:rPr lang="fr-FR" dirty="0" err="1"/>
              <a:t>window</a:t>
            </a:r>
            <a:r>
              <a:rPr lang="fr-FR" dirty="0"/>
              <a:t> est le plus objet du DOM. C’est la fenêtre où le document HTML est affiché. Il contient tous les autres.</a:t>
            </a:r>
          </a:p>
          <a:p>
            <a:pPr lvl="1"/>
            <a:r>
              <a:rPr lang="fr-FR" dirty="0"/>
              <a:t>L’objet </a:t>
            </a:r>
            <a:r>
              <a:rPr lang="fr-FR" dirty="0" err="1"/>
              <a:t>window</a:t>
            </a:r>
            <a:r>
              <a:rPr lang="fr-FR" dirty="0"/>
              <a:t> est le contexte global. </a:t>
            </a:r>
          </a:p>
          <a:p>
            <a:pPr lvl="1"/>
            <a:r>
              <a:rPr lang="fr-FR" dirty="0"/>
              <a:t>Toutes les fonctions globales et toutes les variables globales déclarées via </a:t>
            </a:r>
            <a:r>
              <a:rPr lang="fr-FR" b="1" dirty="0"/>
              <a:t>VAR </a:t>
            </a:r>
            <a:r>
              <a:rPr lang="fr-FR" dirty="0"/>
              <a:t>sont des propriétés de </a:t>
            </a:r>
            <a:r>
              <a:rPr lang="fr-FR" dirty="0" err="1"/>
              <a:t>window</a:t>
            </a:r>
            <a:r>
              <a:rPr lang="fr-FR" dirty="0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9F7B3F-42D5-94F2-9B23-3D17E4F80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811" y="4570111"/>
            <a:ext cx="6468378" cy="647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6041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59612-316D-FAEF-F004-C066DC3B1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EB26D5-D999-FBDA-89FA-7CF4A7F3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4D7909-B74C-AA20-A1EB-06E1A21CB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Exercice </a:t>
            </a:r>
          </a:p>
          <a:p>
            <a:pPr lvl="1"/>
            <a:r>
              <a:rPr lang="fr-FR" dirty="0"/>
              <a:t>Choisissez l’un des derniers labos présentant un page HTML</a:t>
            </a:r>
          </a:p>
          <a:p>
            <a:pPr lvl="1"/>
            <a:r>
              <a:rPr lang="fr-FR" dirty="0"/>
              <a:t>Lancez là</a:t>
            </a:r>
          </a:p>
          <a:p>
            <a:pPr lvl="1"/>
            <a:r>
              <a:rPr lang="fr-FR" dirty="0"/>
              <a:t>Cibler un élément du DOM et ajouter lui un évènement</a:t>
            </a:r>
          </a:p>
          <a:p>
            <a:pPr lvl="1"/>
            <a:endParaRPr lang="fr-FR" dirty="0"/>
          </a:p>
        </p:txBody>
      </p:sp>
      <p:pic>
        <p:nvPicPr>
          <p:cNvPr id="4" name="Image 3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5CD04A5-9AB7-86F3-C7CC-ACF1F1175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6" y="3838590"/>
            <a:ext cx="6911387" cy="1831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7349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FC653-C076-27E4-60CA-4CA8C99FB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7B3B98-C348-C408-DBD5-BE517B833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400211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D430D3-D4A3-F3C0-F146-A72BEE82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Expression régulière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188C0B-31FE-8346-376A-B2B05CC12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Introduction</a:t>
            </a:r>
          </a:p>
          <a:p>
            <a:pPr lvl="1"/>
            <a:r>
              <a:rPr lang="fr-BE" dirty="0"/>
              <a:t>Une expression régulière est une séquence de caractères qui représente un « motif » textuel.</a:t>
            </a:r>
          </a:p>
          <a:p>
            <a:pPr lvl="1"/>
            <a:r>
              <a:rPr lang="fr-BE" dirty="0"/>
              <a:t>Exemple :</a:t>
            </a:r>
          </a:p>
          <a:p>
            <a:pPr lvl="2"/>
            <a:r>
              <a:rPr lang="fr-BE" dirty="0"/>
              <a:t>« b.t » 		</a:t>
            </a:r>
            <a:r>
              <a:rPr lang="fr-BE" dirty="0">
                <a:sym typeface="Wingdings" panose="05000000000000000000" pitchFamily="2" charset="2"/>
              </a:rPr>
              <a:t> chaine de 3 caractères b-?-t (bot, bit, </a:t>
            </a:r>
            <a:r>
              <a:rPr lang="fr-BE" dirty="0" err="1">
                <a:sym typeface="Wingdings" panose="05000000000000000000" pitchFamily="2" charset="2"/>
              </a:rPr>
              <a:t>bkt</a:t>
            </a:r>
            <a:r>
              <a:rPr lang="fr-BE" dirty="0">
                <a:sym typeface="Wingdings" panose="05000000000000000000" pitchFamily="2" charset="2"/>
              </a:rPr>
              <a:t>, …)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« [01]* 	 chaine composée de 0 et 1 (01, 10, 0001111, …)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« \d{4} 	 toutes les séquences de 4 chiffres (5000, 1234, 0001, …)</a:t>
            </a:r>
          </a:p>
          <a:p>
            <a:pPr lvl="1"/>
            <a:r>
              <a:rPr lang="fr-BE" dirty="0"/>
              <a:t>Utilisation:</a:t>
            </a:r>
          </a:p>
          <a:p>
            <a:pPr lvl="2"/>
            <a:r>
              <a:rPr lang="fr-BE" dirty="0"/>
              <a:t>Rechercher des motifs dans un texte</a:t>
            </a:r>
          </a:p>
          <a:p>
            <a:pPr lvl="2"/>
            <a:r>
              <a:rPr lang="fr-BE" dirty="0"/>
              <a:t>Valider une entrée</a:t>
            </a:r>
          </a:p>
          <a:p>
            <a:pPr lvl="2"/>
            <a:r>
              <a:rPr lang="fr-BE" dirty="0"/>
              <a:t>Analyser des données textuelles</a:t>
            </a:r>
          </a:p>
          <a:p>
            <a:pPr lvl="2"/>
            <a:r>
              <a:rPr lang="fr-BE" dirty="0"/>
              <a:t>Transformer des données textuelles</a:t>
            </a:r>
          </a:p>
          <a:p>
            <a:pPr lvl="2"/>
            <a:r>
              <a:rPr lang="fr-B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42785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E97BA-892C-1D55-8782-47D9B4DF4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CEEBFB-3969-19C8-FEAA-5D62FE95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Expression régulière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602116-53F8-D573-20DB-19D697785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Syntaxe</a:t>
            </a:r>
          </a:p>
          <a:p>
            <a:pPr lvl="1"/>
            <a:r>
              <a:rPr lang="fr-BE" dirty="0"/>
              <a:t>Les expressions régulières se composent de symboles</a:t>
            </a:r>
          </a:p>
          <a:p>
            <a:pPr lvl="2"/>
            <a:r>
              <a:rPr lang="fr-BE" dirty="0"/>
              <a:t>Des éléments de motifs (« a », « \d », …)</a:t>
            </a:r>
          </a:p>
          <a:p>
            <a:pPr lvl="3"/>
            <a:r>
              <a:rPr lang="fr-BE" dirty="0"/>
              <a:t>Tous les caractères sauf</a:t>
            </a:r>
          </a:p>
          <a:p>
            <a:pPr lvl="4"/>
            <a:r>
              <a:rPr lang="fr-BE" dirty="0"/>
              <a:t>\ ^ $ . * + ? ( ) [ ] { } |</a:t>
            </a:r>
          </a:p>
          <a:p>
            <a:pPr lvl="3"/>
            <a:r>
              <a:rPr lang="fr-BE" dirty="0"/>
              <a:t>Des caractères échappés</a:t>
            </a:r>
          </a:p>
          <a:p>
            <a:pPr lvl="4"/>
            <a:r>
              <a:rPr lang="fr-BE" dirty="0"/>
              <a:t>\\ \^ \$ \. \* \+ \? \( \) \[ \] \{ \}</a:t>
            </a:r>
          </a:p>
          <a:p>
            <a:pPr lvl="3"/>
            <a:r>
              <a:rPr lang="fr-BE" dirty="0"/>
              <a:t>Des caractères spéciaux</a:t>
            </a:r>
          </a:p>
          <a:p>
            <a:pPr lvl="4"/>
            <a:r>
              <a:rPr lang="fr-BE" dirty="0"/>
              <a:t>\t (tabulation), \n (retour à la ligne)</a:t>
            </a:r>
          </a:p>
          <a:p>
            <a:pPr lvl="3"/>
            <a:r>
              <a:rPr lang="fr-BE" dirty="0"/>
              <a:t>des classes</a:t>
            </a:r>
          </a:p>
          <a:p>
            <a:pPr lvl="4"/>
            <a:r>
              <a:rPr lang="fr-BE" dirty="0"/>
              <a:t>[</a:t>
            </a:r>
            <a:r>
              <a:rPr lang="fr-BE" dirty="0" err="1"/>
              <a:t>aeiouy</a:t>
            </a:r>
            <a:r>
              <a:rPr lang="fr-BE" dirty="0"/>
              <a:t>] = 1 voyelle</a:t>
            </a:r>
          </a:p>
          <a:p>
            <a:pPr lvl="4"/>
            <a:r>
              <a:rPr lang="fr-BE" dirty="0"/>
              <a:t>[0-9] = 1 chiffre</a:t>
            </a:r>
          </a:p>
          <a:p>
            <a:pPr lvl="4"/>
            <a:r>
              <a:rPr lang="fr-BE" dirty="0"/>
              <a:t>[a-d$] 1 caractère parmi a, b, c, d et $</a:t>
            </a:r>
          </a:p>
          <a:p>
            <a:pPr lvl="4"/>
            <a:r>
              <a:rPr lang="fr-BE" dirty="0"/>
              <a:t>[^</a:t>
            </a:r>
            <a:r>
              <a:rPr lang="fr-BE" dirty="0" err="1"/>
              <a:t>aeiouy</a:t>
            </a:r>
            <a:r>
              <a:rPr lang="fr-BE" dirty="0"/>
              <a:t>] 1 caractère qui n’est pas une voyelle</a:t>
            </a:r>
          </a:p>
          <a:p>
            <a:pPr lvl="3"/>
            <a:r>
              <a:rPr lang="fr-BE" dirty="0"/>
              <a:t>Des classes prédéfinies</a:t>
            </a:r>
          </a:p>
          <a:p>
            <a:pPr lvl="4"/>
            <a:r>
              <a:rPr lang="fr-BE" dirty="0"/>
              <a:t>\d = 1 chiffre</a:t>
            </a:r>
          </a:p>
          <a:p>
            <a:pPr lvl="4"/>
            <a:r>
              <a:rPr lang="fr-BE" dirty="0"/>
              <a:t>\w = 1 caractère alphanumérique</a:t>
            </a:r>
          </a:p>
          <a:p>
            <a:pPr lvl="4"/>
            <a:r>
              <a:rPr lang="fr-BE" dirty="0"/>
              <a:t>\s = 1 blanc</a:t>
            </a:r>
          </a:p>
        </p:txBody>
      </p:sp>
    </p:spTree>
    <p:extLst>
      <p:ext uri="{BB962C8B-B14F-4D97-AF65-F5344CB8AC3E}">
        <p14:creationId xmlns:p14="http://schemas.microsoft.com/office/powerpoint/2010/main" val="3655627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0D60-D5D4-EFC4-C66E-613E67C2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1C0BAB-4489-A449-05B6-5E0C22C9B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Expression régulière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A30AD0-DAEC-02A7-361E-CACDFE322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dirty="0"/>
              <a:t>Syntaxe</a:t>
            </a:r>
          </a:p>
          <a:p>
            <a:pPr lvl="1"/>
            <a:r>
              <a:rPr lang="fr-BE" dirty="0"/>
              <a:t>Les expressions régulières se composent de symboles</a:t>
            </a:r>
          </a:p>
          <a:p>
            <a:pPr lvl="2"/>
            <a:r>
              <a:rPr lang="fr-BE" dirty="0"/>
              <a:t>Des décorateurs (+, |, …) </a:t>
            </a:r>
            <a:r>
              <a:rPr lang="fr-BE" dirty="0">
                <a:sym typeface="Wingdings" panose="05000000000000000000" pitchFamily="2" charset="2"/>
              </a:rPr>
              <a:t> ils modifient les éléments de motifs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Des quantifieurs (répétitions)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\d-?\d = 2 chiffres avec, éventuellement, un tiret entre les deux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[A-Z]* = séquence de x lettres majuscules</a:t>
            </a:r>
          </a:p>
          <a:p>
            <a:pPr lvl="4"/>
            <a:r>
              <a:rPr lang="fr-BE" dirty="0"/>
              <a:t>[13579]{3} = séquence de 3 chiffres impairs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La disjonction (ou)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\</a:t>
            </a:r>
            <a:r>
              <a:rPr lang="fr-BE" dirty="0" err="1">
                <a:sym typeface="Wingdings" panose="05000000000000000000" pitchFamily="2" charset="2"/>
              </a:rPr>
              <a:t>d|Z</a:t>
            </a:r>
            <a:r>
              <a:rPr lang="fr-BE" dirty="0">
                <a:sym typeface="Wingdings" panose="05000000000000000000" pitchFamily="2" charset="2"/>
              </a:rPr>
              <a:t> : un chiffre ou la lettre « Z »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Des assertions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^\d : un chiffre qui se trouve au début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Zoo$ : un mot « zoo » situé en fin de ligne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\</a:t>
            </a:r>
            <a:r>
              <a:rPr lang="fr-BE" dirty="0" err="1">
                <a:sym typeface="Wingdings" panose="05000000000000000000" pitchFamily="2" charset="2"/>
              </a:rPr>
              <a:t>bpoly</a:t>
            </a:r>
            <a:r>
              <a:rPr lang="fr-BE" dirty="0">
                <a:sym typeface="Wingdings" panose="05000000000000000000" pitchFamily="2" charset="2"/>
              </a:rPr>
              <a:t> : la chaine « poly » située au début d’un mot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Des groupements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\w+(</a:t>
            </a:r>
            <a:r>
              <a:rPr lang="fr-BE" dirty="0" err="1">
                <a:sym typeface="Wingdings" panose="05000000000000000000" pitchFamily="2" charset="2"/>
              </a:rPr>
              <a:t>al|aux</a:t>
            </a:r>
            <a:r>
              <a:rPr lang="fr-BE" dirty="0">
                <a:sym typeface="Wingdings" panose="05000000000000000000" pitchFamily="2" charset="2"/>
              </a:rPr>
              <a:t>) : chaine terminée par –al ou –aux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(.)v\1 : chaines telle que ava, </a:t>
            </a:r>
            <a:r>
              <a:rPr lang="fr-BE" dirty="0" err="1">
                <a:sym typeface="Wingdings" panose="05000000000000000000" pitchFamily="2" charset="2"/>
              </a:rPr>
              <a:t>eve</a:t>
            </a:r>
            <a:r>
              <a:rPr lang="fr-BE" dirty="0">
                <a:sym typeface="Wingdings" panose="05000000000000000000" pitchFamily="2" charset="2"/>
              </a:rPr>
              <a:t>, 3v3, …</a:t>
            </a:r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482706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5C28A-7972-4E67-FED1-CFBCC41F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C2CDC2-E297-F937-97A0-10F11C51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Expression régulière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152485-8B76-8C60-330C-FD455208C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Lien</a:t>
            </a:r>
          </a:p>
          <a:p>
            <a:pPr lvl="1"/>
            <a:r>
              <a:rPr lang="fr-BE" dirty="0">
                <a:hlinkClick r:id="rId2"/>
              </a:rPr>
              <a:t>https://developer.mozilla.org/en-US/docs/Web/JavaScript/Reference/Global_Objects</a:t>
            </a:r>
            <a:endParaRPr lang="fr-BE" dirty="0"/>
          </a:p>
          <a:p>
            <a:pPr lvl="1"/>
            <a:r>
              <a:rPr lang="fr-BE" dirty="0">
                <a:hlinkClick r:id="rId3"/>
              </a:rPr>
              <a:t>https://regex101.com</a:t>
            </a:r>
            <a:r>
              <a:rPr lang="fr-BE" dirty="0"/>
              <a:t> pour tester vos regex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40813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1B41-950B-55CF-4A4B-C13CCB7D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1D00BD-3AEB-4C2F-82D8-120BEBA13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Expression régulière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A13F52-FB55-CE8B-F0EB-D45B85321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Exercices (</a:t>
            </a:r>
            <a:r>
              <a:rPr lang="fr-BE" dirty="0">
                <a:hlinkClick r:id="rId3"/>
              </a:rPr>
              <a:t>https://regex101.com</a:t>
            </a:r>
            <a:r>
              <a:rPr lang="fr-BE" dirty="0"/>
              <a:t>)</a:t>
            </a:r>
          </a:p>
          <a:p>
            <a:pPr lvl="1"/>
            <a:r>
              <a:rPr lang="fr-BE" dirty="0"/>
              <a:t>« J’ai 2 pommes, 15 oranges et 100 raisins. »</a:t>
            </a:r>
          </a:p>
          <a:p>
            <a:pPr lvl="2"/>
            <a:r>
              <a:rPr lang="fr-BE" dirty="0"/>
              <a:t>Capturez tous les nombres</a:t>
            </a:r>
          </a:p>
          <a:p>
            <a:pPr lvl="1"/>
            <a:r>
              <a:rPr lang="fr-BE" dirty="0"/>
              <a:t>« Paris est une ville. jean aime Berlin et Tokyo. » </a:t>
            </a:r>
          </a:p>
          <a:p>
            <a:pPr lvl="2"/>
            <a:r>
              <a:rPr lang="fr-BE" dirty="0"/>
              <a:t>Capturez les mots avec une majuscule en début.</a:t>
            </a:r>
          </a:p>
          <a:p>
            <a:pPr lvl="1"/>
            <a:r>
              <a:rPr lang="fr-BE" dirty="0"/>
              <a:t>« Contact: alice@mail.com, bob123@example.org et </a:t>
            </a:r>
            <a:r>
              <a:rPr lang="fr-BE" dirty="0" err="1"/>
              <a:t>faux@mail</a:t>
            </a:r>
            <a:r>
              <a:rPr lang="fr-BE" dirty="0"/>
              <a:t> »</a:t>
            </a:r>
          </a:p>
          <a:p>
            <a:pPr lvl="2"/>
            <a:r>
              <a:rPr lang="fr-BE" dirty="0"/>
              <a:t>Extraire les </a:t>
            </a:r>
            <a:r>
              <a:rPr lang="fr-BE" i="1" dirty="0"/>
              <a:t>emails valides</a:t>
            </a:r>
            <a:r>
              <a:rPr lang="fr-BE" dirty="0"/>
              <a:t> de type </a:t>
            </a:r>
            <a:r>
              <a:rPr lang="fr-BE" dirty="0" err="1"/>
              <a:t>xxx@yyy.zzz</a:t>
            </a:r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912072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2268</Words>
  <Application>Microsoft Office PowerPoint</Application>
  <PresentationFormat>Grand écran</PresentationFormat>
  <Paragraphs>327</Paragraphs>
  <Slides>38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Wingdings</vt:lpstr>
      <vt:lpstr>Thème Office</vt:lpstr>
      <vt:lpstr>Module 1 – Programmation web Frontend</vt:lpstr>
      <vt:lpstr>Planning</vt:lpstr>
      <vt:lpstr>Chapitre 7</vt:lpstr>
      <vt:lpstr>Chapitre 7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Présentation PowerPoint</vt:lpstr>
      <vt:lpstr>2. Programmation évènementielle</vt:lpstr>
      <vt:lpstr>2. Programmation évènementielle</vt:lpstr>
      <vt:lpstr>2. Programmation évènementielle</vt:lpstr>
      <vt:lpstr>2. Programmation évènementielle</vt:lpstr>
      <vt:lpstr>2. Programmation évènementielle</vt:lpstr>
      <vt:lpstr>2. Programmation évènementielle</vt:lpstr>
      <vt:lpstr>2. Programmation évènementielle</vt:lpstr>
      <vt:lpstr>2. Programmation évènementielle</vt:lpstr>
      <vt:lpstr>2. Programmation évènementielle</vt:lpstr>
      <vt:lpstr>Présentation PowerPoint</vt:lpstr>
      <vt:lpstr>Expression régulière</vt:lpstr>
      <vt:lpstr>Expression régulière</vt:lpstr>
      <vt:lpstr>Expression régulière</vt:lpstr>
      <vt:lpstr>Expression régulière</vt:lpstr>
      <vt:lpstr>Expression régulière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lejeune</dc:creator>
  <cp:lastModifiedBy>joachim lejeune</cp:lastModifiedBy>
  <cp:revision>9</cp:revision>
  <dcterms:created xsi:type="dcterms:W3CDTF">2026-01-12T18:48:29Z</dcterms:created>
  <dcterms:modified xsi:type="dcterms:W3CDTF">2026-01-20T20:23:05Z</dcterms:modified>
</cp:coreProperties>
</file>